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07D70-6602-4F1A-81C9-A8A2A8CB1F60}" v="1" dt="2026-04-12T04:48:30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Goud" userId="fe4d080e801d9ecd" providerId="LiveId" clId="{C48227C5-96C7-497E-B0BB-B6CCAB013394}"/>
    <pc:docChg chg="custSel modSld">
      <pc:chgData name="Ashish Goud" userId="fe4d080e801d9ecd" providerId="LiveId" clId="{C48227C5-96C7-497E-B0BB-B6CCAB013394}" dt="2026-04-12T04:49:45.184" v="21" actId="14100"/>
      <pc:docMkLst>
        <pc:docMk/>
      </pc:docMkLst>
      <pc:sldChg chg="modSp mod">
        <pc:chgData name="Ashish Goud" userId="fe4d080e801d9ecd" providerId="LiveId" clId="{C48227C5-96C7-497E-B0BB-B6CCAB013394}" dt="2026-04-12T04:45:18.328" v="1" actId="20577"/>
        <pc:sldMkLst>
          <pc:docMk/>
          <pc:sldMk cId="4225912686" sldId="259"/>
        </pc:sldMkLst>
        <pc:spChg chg="mod">
          <ac:chgData name="Ashish Goud" userId="fe4d080e801d9ecd" providerId="LiveId" clId="{C48227C5-96C7-497E-B0BB-B6CCAB013394}" dt="2026-04-12T04:45:18.328" v="1" actId="20577"/>
          <ac:spMkLst>
            <pc:docMk/>
            <pc:sldMk cId="4225912686" sldId="259"/>
            <ac:spMk id="2" creationId="{00000000-0000-0000-0000-000000000000}"/>
          </ac:spMkLst>
        </pc:spChg>
      </pc:sldChg>
      <pc:sldChg chg="addSp delSp modSp mod">
        <pc:chgData name="Ashish Goud" userId="fe4d080e801d9ecd" providerId="LiveId" clId="{C48227C5-96C7-497E-B0BB-B6CCAB013394}" dt="2026-04-12T04:49:45.184" v="21" actId="14100"/>
        <pc:sldMkLst>
          <pc:docMk/>
          <pc:sldMk cId="3686781526" sldId="264"/>
        </pc:sldMkLst>
        <pc:picChg chg="add del mod">
          <ac:chgData name="Ashish Goud" userId="fe4d080e801d9ecd" providerId="LiveId" clId="{C48227C5-96C7-497E-B0BB-B6CCAB013394}" dt="2026-04-12T04:48:29.233" v="9" actId="21"/>
          <ac:picMkLst>
            <pc:docMk/>
            <pc:sldMk cId="3686781526" sldId="264"/>
            <ac:picMk id="3" creationId="{FFBC5F66-F223-7611-D780-11E4320C68CF}"/>
          </ac:picMkLst>
        </pc:picChg>
        <pc:picChg chg="add del mod">
          <ac:chgData name="Ashish Goud" userId="fe4d080e801d9ecd" providerId="LiveId" clId="{C48227C5-96C7-497E-B0BB-B6CCAB013394}" dt="2026-04-12T04:48:40.870" v="11" actId="21"/>
          <ac:picMkLst>
            <pc:docMk/>
            <pc:sldMk cId="3686781526" sldId="264"/>
            <ac:picMk id="5" creationId="{FFBC5F66-F223-7611-D780-11E4320C68CF}"/>
          </ac:picMkLst>
        </pc:picChg>
        <pc:picChg chg="mod">
          <ac:chgData name="Ashish Goud" userId="fe4d080e801d9ecd" providerId="LiveId" clId="{C48227C5-96C7-497E-B0BB-B6CCAB013394}" dt="2026-04-12T04:49:32.046" v="18" actId="14100"/>
          <ac:picMkLst>
            <pc:docMk/>
            <pc:sldMk cId="3686781526" sldId="264"/>
            <ac:picMk id="6" creationId="{3FCE2B43-1027-3CCD-6E90-998B671A7FF8}"/>
          </ac:picMkLst>
        </pc:picChg>
        <pc:picChg chg="add mod">
          <ac:chgData name="Ashish Goud" userId="fe4d080e801d9ecd" providerId="LiveId" clId="{C48227C5-96C7-497E-B0BB-B6CCAB013394}" dt="2026-04-12T04:49:45.184" v="21" actId="14100"/>
          <ac:picMkLst>
            <pc:docMk/>
            <pc:sldMk cId="3686781526" sldId="264"/>
            <ac:picMk id="8" creationId="{085F9716-CC18-DE8C-0656-A6AD39F66B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24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5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51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7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30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1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2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7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8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578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0060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7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44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30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56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66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95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itfl.com/what-is-ai-and-how-does-it-work/" TargetMode="Externa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11958.html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8938" y="4253542"/>
            <a:ext cx="8545197" cy="1073021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Candara Light" panose="020E0502030303020204" pitchFamily="34" charset="0"/>
              </a:rPr>
              <a:t>Healthcare analytics</a:t>
            </a:r>
            <a:endParaRPr lang="en-US" sz="6000" dirty="0">
              <a:latin typeface="Candara Light" panose="020E05020303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B58ADE-7815-7F0A-9231-042E1974E2C1}"/>
              </a:ext>
            </a:extLst>
          </p:cNvPr>
          <p:cNvSpPr txBox="1">
            <a:spLocks/>
          </p:cNvSpPr>
          <p:nvPr/>
        </p:nvSpPr>
        <p:spPr>
          <a:xfrm>
            <a:off x="1658938" y="2972757"/>
            <a:ext cx="8545197" cy="18172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700" dirty="0">
                <a:latin typeface="Bauhaus 93" panose="04030905020B02020C02" pitchFamily="82" charset="0"/>
              </a:rPr>
              <a:t>AX</a:t>
            </a:r>
            <a:r>
              <a:rPr lang="en-US" sz="10700" dirty="0">
                <a:solidFill>
                  <a:schemeClr val="bg2">
                    <a:lumMod val="75000"/>
                  </a:schemeClr>
                </a:solidFill>
                <a:latin typeface="Bauhaus 93" panose="04030905020B02020C02" pitchFamily="82" charset="0"/>
              </a:rPr>
              <a:t>O</a:t>
            </a:r>
            <a:r>
              <a:rPr lang="en-US" sz="10700" dirty="0">
                <a:latin typeface="Bauhaus 93" panose="04030905020B02020C02" pitchFamily="82" charset="0"/>
              </a:rPr>
              <a:t>N</a:t>
            </a:r>
            <a:endParaRPr lang="en-US" sz="12800" dirty="0">
              <a:latin typeface="Bauhaus 93" panose="04030905020B02020C02" pitchFamily="8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AE6EB0-AB2B-3E8C-9434-2C66DD88F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8758191" y="3270083"/>
            <a:ext cx="2910554" cy="371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203761-E6B4-8196-2865-7B6E55041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8721" t="2666" r="27959" b="23643"/>
          <a:stretch>
            <a:fillRect/>
          </a:stretch>
        </p:blipFill>
        <p:spPr>
          <a:xfrm>
            <a:off x="4331337" y="161317"/>
            <a:ext cx="3219064" cy="273797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879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092" y="178038"/>
            <a:ext cx="8516093" cy="82378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TODAY’S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9551" y="1378409"/>
            <a:ext cx="6680717" cy="47038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LIST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POWERBI DASHBOARD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 AWAY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42AF8FE-3738-F5CB-B0F3-FEB838F31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8758191" y="3270083"/>
            <a:ext cx="2910554" cy="37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4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435" y="143071"/>
            <a:ext cx="8596668" cy="74964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807" y="1484870"/>
            <a:ext cx="4399007" cy="388825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Kanade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Goud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Shilpa 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Sridevi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Ayan Khan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85CCBF-3BA4-E2DA-B04B-8CED72C08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8758191" y="3270083"/>
            <a:ext cx="2910554" cy="37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5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1631" y="130208"/>
            <a:ext cx="7768738" cy="90616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project</a:t>
            </a:r>
            <a:endParaRPr lang="en-US" sz="44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39" y="1112808"/>
            <a:ext cx="11947584" cy="5614984"/>
          </a:xfrm>
        </p:spPr>
        <p:txBody>
          <a:bodyPr>
            <a:normAutofit fontScale="62500" lnSpcReduction="20000"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leveraging healthcare data to develop an analytical dashboard that provides actionable insights into hospital operations and patient management.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integrates multiple entities, including patients, doctors, visits, treatments, and lab results, forming a structured analytical model that reflects real-world healthcare workflows.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data cleaning, transformation, and KPI development in excel, the project enables comprehensive analysis across operational, clinical, and financial dimensions.</a:t>
            </a:r>
          </a:p>
          <a:p>
            <a:pPr algn="just"/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Key analytical outcomes include: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3600" b="1" dirty="0"/>
              <a:t>Evaluation of patient volume and visit trends over time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3600" b="1" dirty="0"/>
              <a:t>Identification of high-frequency diagnoses and treatment patterns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3600" b="1" dirty="0"/>
              <a:t>Assessment of doctor workload and resource utilization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3600" b="1" dirty="0"/>
              <a:t>Monitoring of laboratory performance and abnormal result rates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3600" b="1" dirty="0"/>
              <a:t>Analysis of treatment costs to understand financial impact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88BF40-8E0F-9AE4-5E86-CFD65A881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9148400" y="3624131"/>
            <a:ext cx="2579806" cy="32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1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82" y="120771"/>
            <a:ext cx="11205713" cy="827919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</a:t>
            </a:r>
            <a:b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INDICATORS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C3480-D846-A50B-D75D-97C241D10A59}"/>
              </a:ext>
            </a:extLst>
          </p:cNvPr>
          <p:cNvSpPr txBox="1"/>
          <p:nvPr/>
        </p:nvSpPr>
        <p:spPr>
          <a:xfrm>
            <a:off x="267419" y="948690"/>
            <a:ext cx="115708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Patients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Doctors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Visits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Age of Patients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Diagnosed Conditions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Rate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Cost Per Visit (Avg.)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Lab Tests Conducted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Abnormal Lab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Workload (Avg. Patients Per Doctor)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6E910F-4C81-E84A-52E1-8D2A3A2AD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8703313" y="3075209"/>
            <a:ext cx="2957070" cy="377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5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15" y="1"/>
            <a:ext cx="11327027" cy="6814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75553-1448-4D62-4583-630969B3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58" t="1455" r="5405" b="8228"/>
          <a:stretch>
            <a:fillRect/>
          </a:stretch>
        </p:blipFill>
        <p:spPr>
          <a:xfrm>
            <a:off x="309215" y="798417"/>
            <a:ext cx="11410999" cy="5555729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999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890" y="-91035"/>
            <a:ext cx="8516093" cy="86497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33134-B547-4198-1F7E-71DF2869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3" y="632016"/>
            <a:ext cx="11865594" cy="6074422"/>
          </a:xfrm>
          <a:prstGeom prst="rect">
            <a:avLst/>
          </a:prstGeom>
          <a:ln w="190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351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6829" y="0"/>
            <a:ext cx="8178342" cy="86497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C1DE1-C92E-7687-9842-14FFE311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1" t="9116" r="20485" b="12925"/>
          <a:stretch>
            <a:fillRect/>
          </a:stretch>
        </p:blipFill>
        <p:spPr>
          <a:xfrm>
            <a:off x="517586" y="773989"/>
            <a:ext cx="10654268" cy="5822752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415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079" y="0"/>
            <a:ext cx="8820893" cy="95558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SCRIPT FILE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CE2B43-1027-3CCD-6E90-998B671A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5" y="750497"/>
            <a:ext cx="5793873" cy="5900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5F9716-CC18-DE8C-0656-A6AD39F66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258" y="750496"/>
            <a:ext cx="6058821" cy="590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81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93" y="69012"/>
            <a:ext cx="11526414" cy="6469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2528" y="836762"/>
            <a:ext cx="11686679" cy="572501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 Allocation: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workload analysis to distribute patients efficiently across doctors, ensuring balanced utilization and reducing burnout risk.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Preventive Healthcare Strategies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frequently diagnosed conditions to design preventive care programs, reducing long-term treatment burden.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Patient Follow-Up Systems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automated follow-up mechanisms (SMS/email reminders) to improve treatment adherence and patient outcomes.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Cost Efficiency in Treatments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high-cost procedures and introduce standardized treatment protocols to control expenses while maintaining quality of care.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Diagnostic Accuracy &amp; Lab Efficiency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abnormal lab result trends to identify potential gaps in diagnostic processes and improve early detection mechanisms.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 Patient Flow Management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visit trend analysis to optimize scheduling, reduce waiting times, and enhance patient experience.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 Data-Driven Decision Framework</a:t>
            </a:r>
          </a:p>
          <a:p>
            <a:pPr marL="457200" lvl="1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Institutionalize dashboard usage for continuous monitoring, strategic planning, and performance evaluation.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24CC98-527C-182D-305D-53EA4AF0F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9148400" y="3624131"/>
            <a:ext cx="2579806" cy="32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49" y="60386"/>
            <a:ext cx="11783683" cy="6987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6649" y="1026543"/>
            <a:ext cx="11645660" cy="4292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transformative impact of data analytics in the healthcare domain by converting raw clinical and operational data into meaningful insights.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dashboard empowers stakeholders to: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real-time visibility into hospital performance metrics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in patient behavior and disease trends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 utilization, including doctors and infrastructure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clinical outcomes through better monitoring and follow-up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financial planning by analyzing treatment costs</a:t>
            </a:r>
          </a:p>
          <a:p>
            <a:pPr marL="914400" lvl="2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3B912-4CF1-1BC1-9032-85E7211575E5}"/>
              </a:ext>
            </a:extLst>
          </p:cNvPr>
          <p:cNvSpPr txBox="1"/>
          <p:nvPr/>
        </p:nvSpPr>
        <p:spPr>
          <a:xfrm>
            <a:off x="146649" y="4856672"/>
            <a:ext cx="11783682" cy="137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solution highlights how data-driven healthcare systems can significantly improve operational efficiency, patient satisfaction, and strategic decision-making, laying the foundation for advanced analytics using tools like Power BI and Tableau.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E594C08-29C2-F2B9-22E5-131CF67B7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9148400" y="3624131"/>
            <a:ext cx="2579806" cy="32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0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164" y="2020287"/>
            <a:ext cx="8596668" cy="157617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Bauhaus 93" panose="04030905020B02020C02" pitchFamily="82" charset="0"/>
              </a:rPr>
              <a:t>T</a:t>
            </a:r>
            <a:r>
              <a:rPr lang="en-US" sz="6600" dirty="0">
                <a:solidFill>
                  <a:schemeClr val="tx1"/>
                </a:solidFill>
                <a:latin typeface="Bauhaus 93" panose="04030905020B02020C02" pitchFamily="82" charset="0"/>
              </a:rPr>
              <a:t>HANK </a:t>
            </a:r>
            <a:r>
              <a:rPr lang="en-US" sz="6600" dirty="0">
                <a:solidFill>
                  <a:schemeClr val="bg1"/>
                </a:solidFill>
                <a:latin typeface="Bauhaus 93" panose="04030905020B02020C02" pitchFamily="82" charset="0"/>
              </a:rPr>
              <a:t>Y</a:t>
            </a:r>
            <a:r>
              <a:rPr lang="en-US" sz="6600" dirty="0">
                <a:solidFill>
                  <a:schemeClr val="tx1"/>
                </a:solidFill>
                <a:latin typeface="Bauhaus 93" panose="04030905020B02020C02" pitchFamily="82" charset="0"/>
              </a:rPr>
              <a:t>OU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F6E45F6-59D9-21A2-1E8A-F0341FC05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0467538">
            <a:off x="7883428" y="2117207"/>
            <a:ext cx="3784800" cy="48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13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4191</TotalTime>
  <Words>482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Bauhaus 93</vt:lpstr>
      <vt:lpstr>Candara Light</vt:lpstr>
      <vt:lpstr>Century Gothic</vt:lpstr>
      <vt:lpstr>Times New Roman</vt:lpstr>
      <vt:lpstr>Wingdings</vt:lpstr>
      <vt:lpstr>Wingdings 3</vt:lpstr>
      <vt:lpstr>Ion</vt:lpstr>
      <vt:lpstr>Healthcare analytics</vt:lpstr>
      <vt:lpstr> TODAY’S AGENDA</vt:lpstr>
      <vt:lpstr>Group members</vt:lpstr>
      <vt:lpstr>Summary of the project</vt:lpstr>
      <vt:lpstr>KEY PERFORMANCE  INDICATORS LIST</vt:lpstr>
      <vt:lpstr>POWER BI DASHBOARD  </vt:lpstr>
      <vt:lpstr>EXCEL DASHBOARD</vt:lpstr>
      <vt:lpstr>TABLEAU DASHBOARD</vt:lpstr>
      <vt:lpstr>SQL SCRIPT FILE </vt:lpstr>
      <vt:lpstr>SUGGESTIONS</vt:lpstr>
      <vt:lpstr>KEY TAKEAWAY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 MANAGEMENT</dc:title>
  <dc:creator>user</dc:creator>
  <cp:lastModifiedBy>Ashish Goud</cp:lastModifiedBy>
  <cp:revision>21</cp:revision>
  <dcterms:created xsi:type="dcterms:W3CDTF">2026-02-26T10:44:21Z</dcterms:created>
  <dcterms:modified xsi:type="dcterms:W3CDTF">2026-04-12T04:49:52Z</dcterms:modified>
</cp:coreProperties>
</file>